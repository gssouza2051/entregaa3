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32404050" cy="43205400"/>
  <p:notesSz cx="6858000" cy="9144000"/>
  <p:defaultTextStyle>
    <a:defPPr>
      <a:defRPr lang="pt-BR"/>
    </a:defPPr>
    <a:lvl1pPr mar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5759" autoAdjust="0"/>
    <p:restoredTop sz="95287" autoAdjust="0"/>
  </p:normalViewPr>
  <p:slideViewPr>
    <p:cSldViewPr>
      <p:cViewPr>
        <p:scale>
          <a:sx n="33" d="100"/>
          <a:sy n="33" d="100"/>
        </p:scale>
        <p:origin x="2280" y="36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1152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AILTON DE JESUS CERQUEIRA JUNIOR" userId="S::adailton.cerqueira@ulife.com.br::4fde272d-0841-4e9c-8bd1-5d76f6d1716c" providerId="AD" clId="Web-{04DFA0B4-13E0-F08D-1B1D-291B902E44C2}"/>
    <pc:docChg chg="modSld">
      <pc:chgData name="ADAILTON DE JESUS CERQUEIRA JUNIOR" userId="S::adailton.cerqueira@ulife.com.br::4fde272d-0841-4e9c-8bd1-5d76f6d1716c" providerId="AD" clId="Web-{04DFA0B4-13E0-F08D-1B1D-291B902E44C2}" dt="2025-09-26T00:55:24.553" v="243" actId="20577"/>
      <pc:docMkLst>
        <pc:docMk/>
      </pc:docMkLst>
      <pc:sldChg chg="addSp delSp modSp">
        <pc:chgData name="ADAILTON DE JESUS CERQUEIRA JUNIOR" userId="S::adailton.cerqueira@ulife.com.br::4fde272d-0841-4e9c-8bd1-5d76f6d1716c" providerId="AD" clId="Web-{04DFA0B4-13E0-F08D-1B1D-291B902E44C2}" dt="2025-09-26T00:55:24.553" v="243" actId="20577"/>
        <pc:sldMkLst>
          <pc:docMk/>
          <pc:sldMk cId="0" sldId="257"/>
        </pc:sldMkLst>
        <pc:spChg chg="mod">
          <ac:chgData name="ADAILTON DE JESUS CERQUEIRA JUNIOR" userId="S::adailton.cerqueira@ulife.com.br::4fde272d-0841-4e9c-8bd1-5d76f6d1716c" providerId="AD" clId="Web-{04DFA0B4-13E0-F08D-1B1D-291B902E44C2}" dt="2025-09-26T00:55:24.553" v="24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7:39.551" v="74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53:14.295" v="231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ADAILTON DE JESUS CERQUEIRA JUNIOR" userId="S::adailton.cerqueira@ulife.com.br::4fde272d-0841-4e9c-8bd1-5d76f6d1716c" providerId="AD" clId="Web-{04DFA0B4-13E0-F08D-1B1D-291B902E44C2}" dt="2025-09-26T00:48:03.584" v="78" actId="20577"/>
          <ac:spMkLst>
            <pc:docMk/>
            <pc:sldMk cId="0" sldId="257"/>
            <ac:spMk id="17" creationId="{00000000-0000-0000-0000-000000000000}"/>
          </ac:spMkLst>
        </pc:spChg>
        <pc:graphicFrameChg chg="mod modGraphic">
          <ac:chgData name="ADAILTON DE JESUS CERQUEIRA JUNIOR" userId="S::adailton.cerqueira@ulife.com.br::4fde272d-0841-4e9c-8bd1-5d76f6d1716c" providerId="AD" clId="Web-{04DFA0B4-13E0-F08D-1B1D-291B902E44C2}" dt="2025-09-26T00:51:33.832" v="200" actId="1076"/>
          <ac:graphicFrameMkLst>
            <pc:docMk/>
            <pc:sldMk cId="0" sldId="257"/>
            <ac:graphicFrameMk id="8" creationId="{00000000-0000-0000-0000-000000000000}"/>
          </ac:graphicFrameMkLst>
        </pc:graphicFrameChg>
        <pc:graphicFrameChg chg="del">
          <ac:chgData name="ADAILTON DE JESUS CERQUEIRA JUNIOR" userId="S::adailton.cerqueira@ulife.com.br::4fde272d-0841-4e9c-8bd1-5d76f6d1716c" providerId="AD" clId="Web-{04DFA0B4-13E0-F08D-1B1D-291B902E44C2}" dt="2025-09-26T00:48:25.008" v="81"/>
          <ac:graphicFrameMkLst>
            <pc:docMk/>
            <pc:sldMk cId="0" sldId="257"/>
            <ac:graphicFrameMk id="10" creationId="{00000000-0000-0000-0000-000000000000}"/>
          </ac:graphicFrameMkLst>
        </pc:graphicFrameChg>
        <pc:picChg chg="add del mod">
          <ac:chgData name="ADAILTON DE JESUS CERQUEIRA JUNIOR" userId="S::adailton.cerqueira@ulife.com.br::4fde272d-0841-4e9c-8bd1-5d76f6d1716c" providerId="AD" clId="Web-{04DFA0B4-13E0-F08D-1B1D-291B902E44C2}" dt="2025-09-26T00:31:41.045" v="9"/>
          <ac:picMkLst>
            <pc:docMk/>
            <pc:sldMk cId="0" sldId="257"/>
            <ac:picMk id="6" creationId="{2F7AA305-31C1-24B8-58D8-4A041008685B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36.697" v="21" actId="1076"/>
          <ac:picMkLst>
            <pc:docMk/>
            <pc:sldMk cId="0" sldId="257"/>
            <ac:picMk id="7" creationId="{DE0425B4-4BBE-4119-F4E3-54908A697293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33:43.447" v="22" actId="1076"/>
          <ac:picMkLst>
            <pc:docMk/>
            <pc:sldMk cId="0" sldId="257"/>
            <ac:picMk id="11" creationId="{16012876-1C84-8DE5-9B13-5905E424B1C3}"/>
          </ac:picMkLst>
        </pc:picChg>
        <pc:picChg chg="del">
          <ac:chgData name="ADAILTON DE JESUS CERQUEIRA JUNIOR" userId="S::adailton.cerqueira@ulife.com.br::4fde272d-0841-4e9c-8bd1-5d76f6d1716c" providerId="AD" clId="Web-{04DFA0B4-13E0-F08D-1B1D-291B902E44C2}" dt="2025-09-26T00:28:06.861" v="0"/>
          <ac:picMkLst>
            <pc:docMk/>
            <pc:sldMk cId="0" sldId="257"/>
            <ac:picMk id="12" creationId="{00000000-0000-0000-0000-000000000000}"/>
          </ac:picMkLst>
        </pc:picChg>
        <pc:picChg chg="add mod">
          <ac:chgData name="ADAILTON DE JESUS CERQUEIRA JUNIOR" userId="S::adailton.cerqueira@ulife.com.br::4fde272d-0841-4e9c-8bd1-5d76f6d1716c" providerId="AD" clId="Web-{04DFA0B4-13E0-F08D-1B1D-291B902E44C2}" dt="2025-09-26T00:53:20.404" v="233" actId="1076"/>
          <ac:picMkLst>
            <pc:docMk/>
            <pc:sldMk cId="0" sldId="257"/>
            <ac:picMk id="13" creationId="{22B7F8E9-EA4A-C4A3-891A-40C2F5F7723B}"/>
          </ac:picMkLst>
        </pc:picChg>
      </pc:sldChg>
    </pc:docChg>
  </pc:docChgLst>
  <pc:docChgLst>
    <pc:chgData name="Gabriel Souza" userId="3aec459d9ad26342" providerId="LiveId" clId="{81108645-B148-42B2-9650-2E0488FE199C}"/>
    <pc:docChg chg="undo custSel modSld">
      <pc:chgData name="Gabriel Souza" userId="3aec459d9ad26342" providerId="LiveId" clId="{81108645-B148-42B2-9650-2E0488FE199C}" dt="2025-11-13T23:46:28.339" v="285" actId="1076"/>
      <pc:docMkLst>
        <pc:docMk/>
      </pc:docMkLst>
      <pc:sldChg chg="addSp delSp modSp mod">
        <pc:chgData name="Gabriel Souza" userId="3aec459d9ad26342" providerId="LiveId" clId="{81108645-B148-42B2-9650-2E0488FE199C}" dt="2025-11-13T23:46:28.339" v="285" actId="1076"/>
        <pc:sldMkLst>
          <pc:docMk/>
          <pc:sldMk cId="0" sldId="257"/>
        </pc:sldMkLst>
        <pc:spChg chg="mod">
          <ac:chgData name="Gabriel Souza" userId="3aec459d9ad26342" providerId="LiveId" clId="{81108645-B148-42B2-9650-2E0488FE199C}" dt="2025-10-31T18:39:40.859" v="40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Gabriel Souza" userId="3aec459d9ad26342" providerId="LiveId" clId="{81108645-B148-42B2-9650-2E0488FE199C}" dt="2025-11-13T23:45:08.059" v="270" actId="12"/>
          <ac:spMkLst>
            <pc:docMk/>
            <pc:sldMk cId="0" sldId="257"/>
            <ac:spMk id="3" creationId="{00000000-0000-0000-0000-000000000000}"/>
          </ac:spMkLst>
        </pc:spChg>
        <pc:spChg chg="mod">
          <ac:chgData name="Gabriel Souza" userId="3aec459d9ad26342" providerId="LiveId" clId="{81108645-B148-42B2-9650-2E0488FE199C}" dt="2025-11-13T23:46:18.698" v="284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Gabriel Souza" userId="3aec459d9ad26342" providerId="LiveId" clId="{81108645-B148-42B2-9650-2E0488FE199C}" dt="2025-11-13T23:46:28.339" v="285" actId="1076"/>
          <ac:spMkLst>
            <pc:docMk/>
            <pc:sldMk cId="0" sldId="257"/>
            <ac:spMk id="17" creationId="{00000000-0000-0000-0000-000000000000}"/>
          </ac:spMkLst>
        </pc:spChg>
        <pc:graphicFrameChg chg="del">
          <ac:chgData name="Gabriel Souza" userId="3aec459d9ad26342" providerId="LiveId" clId="{81108645-B148-42B2-9650-2E0488FE199C}" dt="2025-10-31T19:38:05.350" v="93" actId="478"/>
          <ac:graphicFrameMkLst>
            <pc:docMk/>
            <pc:sldMk cId="0" sldId="257"/>
            <ac:graphicFrameMk id="8" creationId="{00000000-0000-0000-0000-000000000000}"/>
          </ac:graphicFrameMkLst>
        </pc:graphicFrameChg>
        <pc:picChg chg="add mod">
          <ac:chgData name="Gabriel Souza" userId="3aec459d9ad26342" providerId="LiveId" clId="{81108645-B148-42B2-9650-2E0488FE199C}" dt="2025-11-13T23:42:30.004" v="254" actId="1076"/>
          <ac:picMkLst>
            <pc:docMk/>
            <pc:sldMk cId="0" sldId="257"/>
            <ac:picMk id="8" creationId="{47EA2AF3-87B7-48A8-9F41-A772F18C6AD4}"/>
          </ac:picMkLst>
        </pc:picChg>
        <pc:picChg chg="add del mod">
          <ac:chgData name="Gabriel Souza" userId="3aec459d9ad26342" providerId="LiveId" clId="{81108645-B148-42B2-9650-2E0488FE199C}" dt="2025-11-13T23:32:53.386" v="209" actId="478"/>
          <ac:picMkLst>
            <pc:docMk/>
            <pc:sldMk cId="0" sldId="257"/>
            <ac:picMk id="10" creationId="{0965D759-C48D-4FB7-95A4-FA144F2E93F1}"/>
          </ac:picMkLst>
        </pc:picChg>
        <pc:picChg chg="del">
          <ac:chgData name="Gabriel Souza" userId="3aec459d9ad26342" providerId="LiveId" clId="{81108645-B148-42B2-9650-2E0488FE199C}" dt="2025-10-31T18:40:52.652" v="42" actId="478"/>
          <ac:picMkLst>
            <pc:docMk/>
            <pc:sldMk cId="0" sldId="257"/>
            <ac:picMk id="13" creationId="{22B7F8E9-EA4A-C4A3-891A-40C2F5F7723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sitorio.ufsc.br/xmlui/bitstream/handle/123456789/82790/190526.pdf?sequence=1&amp;isAllowed=y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repositorio.utfpr.edu.br/jspui/bitstream/1/30773/1/controleinteligentefuzzysemaforo.pdf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eg"/><Relationship Id="rId4" Type="http://schemas.openxmlformats.org/officeDocument/2006/relationships/hyperlink" Target="https://www.sba.org.br/open_journal_systems/index.php/sbai/article/view/2709/224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-288332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61806" y="417614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5400" b="1" dirty="0"/>
              <a:t>Controle de semáforos com lógica Fuzzy</a:t>
            </a:r>
            <a:br>
              <a:rPr lang="pt-BR" sz="5400" b="1" dirty="0"/>
            </a:br>
            <a:br>
              <a:rPr lang="pt-BR" sz="5400" dirty="0"/>
            </a:br>
            <a:r>
              <a:rPr lang="pt-BR" sz="4400" b="1" dirty="0"/>
              <a:t>Alunos: André Vinicius Neves dos Santos, Álex Lima dos Santos, Gabriel Santos Souza, Levi Henrique Bispo Dos Santos, Rodrigo Carvalho Dias</a:t>
            </a:r>
            <a:br>
              <a:rPr lang="pt-BR" sz="4400" b="1" dirty="0"/>
            </a:br>
            <a:r>
              <a:rPr lang="pt-BR" sz="4400" b="1" dirty="0"/>
              <a:t>; Orientador: Adailton Cerqueira.</a:t>
            </a:r>
            <a:br>
              <a:rPr lang="pt-BR" sz="4400" b="1" dirty="0"/>
            </a:br>
            <a:br>
              <a:rPr lang="pt-BR" sz="4400" b="1" dirty="0"/>
            </a:br>
            <a:r>
              <a:rPr lang="pt-BR" sz="4400" dirty="0"/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970852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INTRODUÇÃO</a:t>
            </a: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Simulador 2D (pygame) de um cruzamento controlado por lógica Fuzzy. O sistema usa variáveis linguísticas (fluxo de carros, fluxo de pedestres, horário e clima) para recompor dinamicamente o tempo do verde do semáforo. A base de regras Fuzzy avalia padrões do ambiente e recomenda tempo de semáforo; o estado e decisões são exibidos na HUD e logs de ativação são impressos para análise.</a:t>
            </a: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Integrar um controlador Fuzzy que ajuste automaticamente o tempo verde conforme condições reais do ambiente, mantendo compatibilidade com a heurística de prioridade existente. Reduzir esperas indevidas, priorizar fluxos críticos (picos/chuva) e fornecer telemetria (regras ativadas, grau de ativação, tempo recomendado) para facilitar calibração.</a:t>
            </a: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MÉTODOS</a:t>
            </a: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Fuzzificação: funções de pertinência (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trimf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para fluxo de carros, fluxo de pedestres, horário e clima; rótulos mapeados para valores numéricos no universo.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Inferência: base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com 9 regras implementadas via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skfuzzy.ctrl.Rule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combinações AND/OR avaliadas por min/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max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Defuzzificação: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centróide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ControlSystemSimulation.compute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()) para produzir o tempo recomendado do semáforo.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Heurística adicional: cálculo de prioridade (score 0–10) para compatibilidade.</a:t>
            </a:r>
          </a:p>
          <a:p>
            <a:pPr marL="457200" indent="-457200" algn="just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Diagnóstico: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interp_membership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+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evaluate_rules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obter graus de ativação e logs.</a:t>
            </a:r>
            <a:endParaRPr lang="pt-BR" sz="28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  <a:p>
            <a:pPr algn="just">
              <a:spcBef>
                <a:spcPts val="0"/>
              </a:spcBef>
            </a:pPr>
            <a:endParaRPr lang="pt-BR" sz="20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Implementada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fuzzificação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MFs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trimf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base de regras (9 regras conforme especificado) e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defuzzificação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por </a:t>
            </a:r>
            <a:r>
              <a:rPr lang="pt-BR" sz="32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centróide</a:t>
            </a:r>
            <a:r>
              <a:rPr lang="pt-BR" sz="32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O sistema ajusta tempo do verde em tempo real, imprime regras ativadas com graus, reseta cenário ao alterar ambiente e exibe tempo recomendado na HUD. Observou-se comportamento mais adaptativo a picos e chuva, com trocas mais coerentes que a heurística pura.</a:t>
            </a: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212075" y="11970852"/>
            <a:ext cx="15576604" cy="24332124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latin typeface="Arial" panose="020B0604020202020204" pitchFamily="34" charset="0"/>
                <a:cs typeface="Arial" panose="020B0604020202020204" pitchFamily="34" charset="0"/>
              </a:rPr>
              <a:t>REGRAS FUZZY (RESUMIDAS)</a:t>
            </a:r>
          </a:p>
          <a:p>
            <a:pPr algn="just">
              <a:spcBef>
                <a:spcPts val="0"/>
              </a:spcBef>
            </a:pPr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1) SE (Fluxo de Carros é Alto) E (Horário é de Pico) ENTÃO (Tempo é Alto).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2) SE (Fluxo de Carros é Médio) E (Fluxo de Pedestres é Médio) E (Horário é Normal) ENTÃO (Tempo é Médio).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3) SE (Fluxo de Carros é Baixo) OU (Fluxo de Pedestres é Baixo) ENTÃO (Tempo é Baixo).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4) SE (Fluxo de Carros é Alto) E (Fluxo de Pedestres é Alto) E (Horário é Normal) ENTÃO (Tempo é Médio).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5) SE (Fluxo de Carros é Alto) E (Fluxo de Pedestres é Alto) E (Horário é de Pico) ENTÃO (Tempo é Alto).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6) SE (Fluxo de Carros é Alto) E (Clima é Chuvoso) ENTÃO (Tempo é Alto).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7) SE Fluxo de Carros é Baixo E Fluxo de Pedestres é Baixo E Horário Outro ENTÃO Tempo Baixo.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8) SE Fluxo de Carros é Baixo E Fluxo de Pedestres é Alto ENTÃO Tempo Médio.</a:t>
            </a:r>
          </a:p>
          <a:p>
            <a:pPr algn="just">
              <a:spcBef>
                <a:spcPts val="0"/>
              </a:spcBef>
            </a:pP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9) SE Fluxo de Carros é Médio E Horário é Outro ENTÃO Tempo Médio.</a:t>
            </a:r>
          </a:p>
          <a:p>
            <a:pPr algn="just">
              <a:spcBef>
                <a:spcPts val="0"/>
              </a:spcBef>
            </a:pPr>
            <a:endParaRPr lang="pt-BR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Figura 1 – Exemplo figura</a:t>
            </a:r>
            <a:endParaRPr lang="pt-BR" sz="4400" b="1" dirty="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9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pt-B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latin typeface="Arial" panose="020B0604020202020204" pitchFamily="34" charset="0"/>
                <a:cs typeface="Arial" panose="020B0604020202020204" pitchFamily="34" charset="0"/>
              </a:rPr>
              <a:t> CONCLUSÃO</a:t>
            </a:r>
          </a:p>
          <a:p>
            <a:pPr algn="just">
              <a:spcBef>
                <a:spcPts val="0"/>
              </a:spcBef>
            </a:pPr>
            <a:endParaRPr lang="pt-BR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   A aplicação mostrou que o controlador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adapta o tempo verde às        condições ambientais: tempos maiores em horários de pico e chuva, menores com fluxo/pedestres baixos. As impressões das regras e seus graus confirmam decisões graduais e interpretáveis. Nos testes, a lógica </a:t>
            </a:r>
            <a:r>
              <a:rPr lang="pt-BR" sz="3200" dirty="0" err="1">
                <a:latin typeface="Arial" panose="020B0604020202020204" pitchFamily="34" charset="0"/>
                <a:cs typeface="Arial" panose="020B0604020202020204" pitchFamily="34" charset="0"/>
              </a:rPr>
              <a:t>fuzzy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comportou-se de forma consistente e eficaz para ajustar dinamicamente o semáforo.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17" name="Subtítulo 2"/>
          <p:cNvSpPr txBox="1">
            <a:spLocks/>
          </p:cNvSpPr>
          <p:nvPr/>
        </p:nvSpPr>
        <p:spPr>
          <a:xfrm>
            <a:off x="696254" y="36499706"/>
            <a:ext cx="30749932" cy="590338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1. </a:t>
            </a:r>
            <a:r>
              <a:rPr lang="pt-BR" sz="3200" b="1" dirty="0">
                <a:solidFill>
                  <a:schemeClr val="tx1"/>
                </a:solidFill>
                <a:hlinkClick r:id="rId2"/>
              </a:rPr>
              <a:t>https://repositorio.utfpr.edu.br/jspui/bitstream/1/30773/1/controleinteligentefuzzysemaforo.pdf</a:t>
            </a:r>
            <a:endParaRPr lang="pt-BR" sz="3200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</a:rPr>
              <a:t>2. </a:t>
            </a:r>
            <a:r>
              <a:rPr lang="pt-BR" sz="3200" b="1" dirty="0">
                <a:solidFill>
                  <a:schemeClr val="tx1"/>
                </a:solidFill>
                <a:hlinkClick r:id="rId3"/>
              </a:rPr>
              <a:t>https://repositorio.ufsc.br/xmlui/bitstream/handle/123456789/82790/190526.pdf?sequence=1&amp;isAllowed=y</a:t>
            </a:r>
            <a:endParaRPr lang="pt-BR" sz="3200" b="1" dirty="0">
              <a:solidFill>
                <a:schemeClr val="tx1"/>
              </a:solidFill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</a:rPr>
              <a:t>3. </a:t>
            </a:r>
            <a:r>
              <a:rPr lang="pt-BR" sz="3200" b="1" dirty="0">
                <a:solidFill>
                  <a:schemeClr val="tx1"/>
                </a:solidFill>
                <a:ea typeface="Calibri"/>
                <a:cs typeface="Calibri"/>
                <a:hlinkClick r:id="rId4"/>
              </a:rPr>
              <a:t>https://www.sba.org.br/open_journal_systems/index.php/sbai/article/view/2709/2249</a:t>
            </a:r>
            <a:endParaRPr lang="pt-BR" sz="3200" b="1" dirty="0">
              <a:solidFill>
                <a:schemeClr val="tx1"/>
              </a:solidFill>
              <a:ea typeface="Calibri"/>
              <a:cs typeface="Calibri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891884" y="692779"/>
            <a:ext cx="7724775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4034" y="1299271"/>
            <a:ext cx="10612836" cy="236892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7EA2AF3-87B7-48A8-9F41-A772F18C6A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434273" y="22375172"/>
            <a:ext cx="9721080" cy="10161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959</TotalTime>
  <Words>723</Words>
  <Application>Microsoft Office PowerPoint</Application>
  <PresentationFormat>Personalizar</PresentationFormat>
  <Paragraphs>49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4" baseType="lpstr">
      <vt:lpstr>Arial</vt:lpstr>
      <vt:lpstr>Calibri</vt:lpstr>
      <vt:lpstr>Tema do Office</vt:lpstr>
      <vt:lpstr>Controle de semáforos com lógica Fuzzy  Alunos: André Vinicius Neves dos Santos, Álex Lima dos Santos, Gabriel Santos Souza, Levi Henrique Bispo Dos Santos, Rodrigo Carvalho Dias ; Orientador: Adailton Cerqueira.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on the Beach 2011</dc:title>
  <dc:creator>Tristao</dc:creator>
  <cp:lastModifiedBy>Gabriel Souza</cp:lastModifiedBy>
  <cp:revision>155</cp:revision>
  <dcterms:created xsi:type="dcterms:W3CDTF">2011-04-07T11:05:01Z</dcterms:created>
  <dcterms:modified xsi:type="dcterms:W3CDTF">2025-11-13T23:46:43Z</dcterms:modified>
</cp:coreProperties>
</file>