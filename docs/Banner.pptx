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32404050" cy="43205400"/>
  <p:notesSz cx="6858000" cy="9144000"/>
  <p:defaultTextStyle>
    <a:defPPr>
      <a:defRPr lang="pt-BR"/>
    </a:defPPr>
    <a:lvl1pPr marL="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1pPr>
    <a:lvl2pPr marL="216027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2pPr>
    <a:lvl3pPr marL="432054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3pPr>
    <a:lvl4pPr marL="648081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4pPr>
    <a:lvl5pPr marL="864108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5pPr>
    <a:lvl6pPr marL="1080135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6pPr>
    <a:lvl7pPr marL="1296162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7pPr>
    <a:lvl8pPr marL="1512189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8pPr>
    <a:lvl9pPr marL="1728216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8">
          <p15:clr>
            <a:srgbClr val="A4A3A4"/>
          </p15:clr>
        </p15:guide>
        <p15:guide id="2" pos="1020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1C771D-28EA-B62A-DB65-5C55CEF7F68C}" v="96" dt="2025-11-19T22:24:57.8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759" autoAdjust="0"/>
    <p:restoredTop sz="95287" autoAdjust="0"/>
  </p:normalViewPr>
  <p:slideViewPr>
    <p:cSldViewPr>
      <p:cViewPr>
        <p:scale>
          <a:sx n="33" d="100"/>
          <a:sy n="33" d="100"/>
        </p:scale>
        <p:origin x="2280" y="-3756"/>
      </p:cViewPr>
      <p:guideLst>
        <p:guide orient="horz" pos="13608"/>
        <p:guide pos="10206"/>
      </p:guideLst>
    </p:cSldViewPr>
  </p:slideViewPr>
  <p:outlineViewPr>
    <p:cViewPr>
      <p:scale>
        <a:sx n="33" d="100"/>
        <a:sy n="33" d="100"/>
      </p:scale>
      <p:origin x="0" y="1152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430304" y="13421680"/>
            <a:ext cx="27543443" cy="9261158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860608" y="24483060"/>
            <a:ext cx="22682835" cy="110413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205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4808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641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801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961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1218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28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088D9-6F99-4774-8F18-D88D64460132}" type="datetimeFigureOut">
              <a:rPr lang="pt-BR" smtClean="0"/>
              <a:pPr/>
              <a:t>20/11/2025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A5AF6-92C6-4656-8B3D-FE2340DD82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  <a:alpha val="2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620203" y="1730219"/>
            <a:ext cx="29163645" cy="7200900"/>
          </a:xfrm>
          <a:prstGeom prst="rect">
            <a:avLst/>
          </a:prstGeom>
        </p:spPr>
        <p:txBody>
          <a:bodyPr vert="horz" lIns="432054" tIns="216027" rIns="432054" bIns="216027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620203" y="10081263"/>
            <a:ext cx="29163645" cy="28513567"/>
          </a:xfrm>
          <a:prstGeom prst="rect">
            <a:avLst/>
          </a:prstGeom>
        </p:spPr>
        <p:txBody>
          <a:bodyPr vert="horz" lIns="432054" tIns="216027" rIns="432054" bIns="216027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620203" y="40045008"/>
            <a:ext cx="7560945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l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4088D9-6F99-4774-8F18-D88D64460132}" type="datetimeFigureOut">
              <a:rPr lang="pt-BR" smtClean="0"/>
              <a:pPr/>
              <a:t>20/11/2025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071384" y="40045008"/>
            <a:ext cx="10261283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ctr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23222903" y="40045008"/>
            <a:ext cx="7560945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r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3A5AF6-92C6-4656-8B3D-FE2340DD82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320540" rtl="0" eaLnBrk="1" latinLnBrk="0" hangingPunct="1">
        <a:spcBef>
          <a:spcPct val="0"/>
        </a:spcBef>
        <a:buNone/>
        <a:defRPr sz="20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0203" indent="-1620203" algn="l" defTabSz="4320540" rtl="0" eaLnBrk="1" latinLnBrk="0" hangingPunct="1">
        <a:spcBef>
          <a:spcPct val="20000"/>
        </a:spcBef>
        <a:buFont typeface="Arial" pitchFamily="34" charset="0"/>
        <a:buChar char="•"/>
        <a:defRPr sz="15100" kern="1200">
          <a:solidFill>
            <a:schemeClr val="tx1"/>
          </a:solidFill>
          <a:latin typeface="+mn-lt"/>
          <a:ea typeface="+mn-ea"/>
          <a:cs typeface="+mn-cs"/>
        </a:defRPr>
      </a:lvl1pPr>
      <a:lvl2pPr marL="3510439" indent="-1350169" algn="l" defTabSz="4320540" rtl="0" eaLnBrk="1" latinLnBrk="0" hangingPunct="1">
        <a:spcBef>
          <a:spcPct val="20000"/>
        </a:spcBef>
        <a:buFont typeface="Arial" pitchFamily="34" charset="0"/>
        <a:buChar char="–"/>
        <a:defRPr sz="132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67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11300" kern="1200">
          <a:solidFill>
            <a:schemeClr val="tx1"/>
          </a:solidFill>
          <a:latin typeface="+mn-lt"/>
          <a:ea typeface="+mn-ea"/>
          <a:cs typeface="+mn-cs"/>
        </a:defRPr>
      </a:lvl3pPr>
      <a:lvl4pPr marL="7560945" indent="-1080135" algn="l" defTabSz="4320540" rtl="0" eaLnBrk="1" latinLnBrk="0" hangingPunct="1">
        <a:spcBef>
          <a:spcPct val="20000"/>
        </a:spcBef>
        <a:buFont typeface="Arial" pitchFamily="34" charset="0"/>
        <a:buChar char="–"/>
        <a:defRPr sz="9500" kern="1200">
          <a:solidFill>
            <a:schemeClr val="tx1"/>
          </a:solidFill>
          <a:latin typeface="+mn-lt"/>
          <a:ea typeface="+mn-ea"/>
          <a:cs typeface="+mn-cs"/>
        </a:defRPr>
      </a:lvl4pPr>
      <a:lvl5pPr marL="9721215" indent="-1080135" algn="l" defTabSz="4320540" rtl="0" eaLnBrk="1" latinLnBrk="0" hangingPunct="1">
        <a:spcBef>
          <a:spcPct val="20000"/>
        </a:spcBef>
        <a:buFont typeface="Arial" pitchFamily="34" charset="0"/>
        <a:buChar char="»"/>
        <a:defRPr sz="9500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8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5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2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8pPr>
      <a:lvl9pPr marL="1836229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repositorio.ufsc.br/xmlui/bitstream/handle/123456789/82790/190526.pdf?sequence=1&amp;isAllowed=y" TargetMode="External"/><Relationship Id="rId7" Type="http://schemas.openxmlformats.org/officeDocument/2006/relationships/image" Target="../media/image3.png"/><Relationship Id="rId2" Type="http://schemas.openxmlformats.org/officeDocument/2006/relationships/hyperlink" Target="https://repositorio.utfpr.edu.br/jspui/bitstream/1/30773/1/controleinteligentefuzzysemaforo.pdf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hyperlink" Target="https://www.sba.org.br/open_journal_systems/index.php/sbai/article/view/2709/2249" TargetMode="External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-120685" y="-710731"/>
            <a:ext cx="32412863" cy="432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61806" y="4176148"/>
            <a:ext cx="30749932" cy="5790796"/>
          </a:xfrm>
        </p:spPr>
        <p:txBody>
          <a:bodyPr>
            <a:normAutofit fontScale="90000"/>
          </a:bodyPr>
          <a:lstStyle/>
          <a:p>
            <a:pPr hangingPunct="0"/>
            <a:r>
              <a:rPr lang="pt-BR" sz="5400" b="1" dirty="0"/>
              <a:t>Controle de semáforos com lógica Fuzzy</a:t>
            </a:r>
            <a:br>
              <a:rPr lang="pt-BR" sz="5400" b="1" dirty="0"/>
            </a:br>
            <a:br>
              <a:rPr lang="pt-BR" sz="5400" dirty="0"/>
            </a:br>
            <a:r>
              <a:rPr lang="pt-BR" sz="4400" b="1" dirty="0"/>
              <a:t>Alunos: André Vinicius Neves dos Santos, Álex Lima dos Santos, Gabriel Santos Souza, Levi Henrique Bispo Dos Santos, Rodrigo Carvalho Dias</a:t>
            </a:r>
            <a:br>
              <a:rPr lang="pt-BR" sz="4400" b="1" dirty="0"/>
            </a:br>
            <a:r>
              <a:rPr lang="pt-BR" sz="4400" b="1" dirty="0"/>
              <a:t>; Orientador: Adailton Cerqueira.</a:t>
            </a:r>
            <a:br>
              <a:rPr lang="pt-BR" sz="4400" b="1" dirty="0"/>
            </a:br>
            <a:br>
              <a:rPr lang="pt-BR" sz="4400" b="1" dirty="0"/>
            </a:br>
            <a:r>
              <a:rPr lang="pt-BR" sz="4400" dirty="0"/>
              <a:t>Universidade Salvador – Salvador – BA – Brasil</a:t>
            </a:r>
            <a:br>
              <a:rPr lang="pt-BR" sz="9600" dirty="0"/>
            </a:br>
            <a:endParaRPr lang="pt-BR" sz="440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35911" y="11111750"/>
            <a:ext cx="14845906" cy="23209964"/>
          </a:xfrm>
          <a:ln>
            <a:noFill/>
          </a:ln>
        </p:spPr>
        <p:txBody>
          <a:bodyPr vert="horz" lIns="432054" tIns="216027" rIns="432054" bIns="216027" rtlCol="0" anchor="t">
            <a:noAutofit/>
          </a:bodyPr>
          <a:lstStyle/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INTRODUÇÃO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O projeto apresenta um simulador 2D desenvolvido em </a:t>
            </a:r>
            <a:r>
              <a:rPr lang="pt-BR" sz="3200" dirty="0" err="1">
                <a:solidFill>
                  <a:schemeClr val="tx1"/>
                </a:solidFill>
                <a:latin typeface="Arial"/>
                <a:ea typeface="+mn-lt"/>
                <a:cs typeface="+mn-lt"/>
              </a:rPr>
              <a:t>pygame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 para modelar o funcionamento de um cruzamento urbano controlado por um sistema de lógica </a:t>
            </a:r>
            <a:r>
              <a:rPr lang="pt-BR" sz="3200" dirty="0" err="1">
                <a:solidFill>
                  <a:schemeClr val="tx1"/>
                </a:solidFill>
                <a:latin typeface="Arial"/>
                <a:ea typeface="+mn-lt"/>
                <a:cs typeface="+mn-lt"/>
              </a:rPr>
              <a:t>Fuzzy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. O controlador utiliza variáveis linguísticas como fluxo de carros, fluxo de pedestres, horário e clima para ajustar dinamicamente o tempo de abertura do semáforo, tornando-o mais sensível às condições reais do ambiente. A base de regras </a:t>
            </a:r>
            <a:r>
              <a:rPr lang="pt-BR" sz="3200" dirty="0" err="1">
                <a:solidFill>
                  <a:schemeClr val="tx1"/>
                </a:solidFill>
                <a:latin typeface="Arial"/>
                <a:ea typeface="+mn-lt"/>
                <a:cs typeface="+mn-lt"/>
              </a:rPr>
              <a:t>Fuzzy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 analisa padrões contextuais e recomenda o tempo ideal de luz verde, enquanto o estado atual do sistema, as decisões tomadas e os níveis de ativação das regras são exibidos diretamente na interface (HUD) e registrados em log para análise detalhada. O objetivo é integrar um controlador capaz de otimizar automaticamente o tempo do semáforo sem comprometer a heurística de prioridade já existente, reduzindo esperas desnecessárias, priorizando fluxos críticos como horários de pico ou condições de chuva o processo.</a:t>
            </a: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METODOLOGIA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A etapa de </a:t>
            </a:r>
            <a:r>
              <a:rPr lang="pt-BR" sz="3200" dirty="0" err="1">
                <a:solidFill>
                  <a:schemeClr val="tx1"/>
                </a:solidFill>
                <a:latin typeface="Arial"/>
                <a:ea typeface="+mn-lt"/>
                <a:cs typeface="+mn-lt"/>
              </a:rPr>
              <a:t>fuzzificação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 utiliza funções de pertinência "</a:t>
            </a:r>
            <a:r>
              <a:rPr lang="pt-BR" sz="3200" i="1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trimf"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 para transformar fluxo de carros, fluxo de pedestres, horário e clima em graus linguísticos dentro de seus universos numéricos. A inferência é conduzida por nove regras Fuzzy implementadas com </a:t>
            </a:r>
            <a:r>
              <a:rPr lang="pt-BR" sz="3200" dirty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"</a:t>
            </a:r>
            <a:r>
              <a:rPr lang="pt-BR" sz="3200" dirty="0" err="1">
                <a:solidFill>
                  <a:schemeClr val="tx1"/>
                </a:solidFill>
                <a:latin typeface="Arial"/>
                <a:cs typeface="Arial"/>
              </a:rPr>
              <a:t>skfuzzy.ctrl.Rule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Arial"/>
              </a:rPr>
              <a:t>"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, onde combinações AND/OR são avaliadas pelos métodos min e max. A </a:t>
            </a:r>
            <a:r>
              <a:rPr lang="pt-BR" sz="3200" dirty="0" err="1">
                <a:solidFill>
                  <a:schemeClr val="tx1"/>
                </a:solidFill>
                <a:latin typeface="Arial"/>
                <a:ea typeface="+mn-lt"/>
                <a:cs typeface="+mn-lt"/>
              </a:rPr>
              <a:t>defuzzificação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 usa o método do centroide para gerar um valor nítido correspondente ao tempo recomendado de semáforo. O sistema ainda inclui uma heurística adicional que calcula um índice de prioridade (0–10) para manter compatibilidade com a lógica já existente. Para fins de diagnóstico, a função </a:t>
            </a:r>
            <a:r>
              <a:rPr lang="pt-BR" sz="3200" dirty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"</a:t>
            </a:r>
            <a:r>
              <a:rPr lang="pt-BR" sz="3200" dirty="0" err="1">
                <a:solidFill>
                  <a:schemeClr val="tx1"/>
                </a:solidFill>
                <a:latin typeface="Arial"/>
                <a:cs typeface="Arial"/>
              </a:rPr>
              <a:t>avaliar_regras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Arial"/>
              </a:rPr>
              <a:t>"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 registra quais regras foram ativadas, seus graus de ativação e os logs associados, permitindo análise e calibração precisas.</a:t>
            </a:r>
          </a:p>
          <a:p>
            <a:pPr algn="just">
              <a:spcBef>
                <a:spcPts val="0"/>
              </a:spcBef>
            </a:pPr>
            <a:endParaRPr lang="pt-BR" sz="2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  <a:p>
            <a:pPr algn="just">
              <a:spcBef>
                <a:spcPts val="0"/>
              </a:spcBef>
            </a:pPr>
            <a:endParaRPr lang="pt-BR" sz="3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t-BR" sz="3200" dirty="0">
                <a:solidFill>
                  <a:schemeClr val="tx1"/>
                </a:solidFill>
                <a:latin typeface="Arial"/>
                <a:cs typeface="Arial"/>
              </a:rPr>
              <a:t>  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Após a implementação completa do sistema — incluindo </a:t>
            </a:r>
            <a:r>
              <a:rPr lang="pt-BR" sz="3200" dirty="0" err="1">
                <a:solidFill>
                  <a:schemeClr val="tx1"/>
                </a:solidFill>
                <a:latin typeface="Arial"/>
                <a:ea typeface="+mn-lt"/>
                <a:cs typeface="+mn-lt"/>
              </a:rPr>
              <a:t>fuzzificação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 com funções </a:t>
            </a:r>
            <a:r>
              <a:rPr lang="pt-BR" sz="3200" i="1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trimf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, nove regras de inferência e </a:t>
            </a:r>
            <a:r>
              <a:rPr lang="pt-BR" sz="3200" dirty="0" err="1">
                <a:solidFill>
                  <a:schemeClr val="tx1"/>
                </a:solidFill>
                <a:latin typeface="Arial"/>
                <a:ea typeface="+mn-lt"/>
                <a:cs typeface="+mn-lt"/>
              </a:rPr>
              <a:t>defuzzificação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 por centroide — o controlador Fuzzy ajustou corretamente o tempo de verde do semáforo conforme as condições simuladas. O sistema passou a responder em tempo real ao fluxo de carros, pedestres, horário e clima, exibindo na HUD o tempo recomendado e registrando, em log, as regras ativadas e seus respectivos graus de ativação.</a:t>
            </a:r>
          </a:p>
          <a:p>
            <a:pPr algn="just"/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Os gráficos gerados permitiram observar o comportamento das funções de pertinência e da saída </a:t>
            </a:r>
            <a:r>
              <a:rPr lang="pt-BR" sz="3200" dirty="0" err="1">
                <a:solidFill>
                  <a:schemeClr val="tx1"/>
                </a:solidFill>
                <a:latin typeface="Arial"/>
                <a:ea typeface="+mn-lt"/>
                <a:cs typeface="+mn-lt"/>
              </a:rPr>
              <a:t>defuzzificada</a:t>
            </a:r>
            <a:r>
              <a:rPr lang="pt-BR" sz="3200" dirty="0">
                <a:solidFill>
                  <a:schemeClr val="tx1"/>
                </a:solidFill>
                <a:latin typeface="Arial"/>
                <a:ea typeface="+mn-lt"/>
                <a:cs typeface="+mn-lt"/>
              </a:rPr>
              <a:t>, confirmando que o tempo de semáforo aumentou em cenários críticos (como fluxo alto ou chuva) e diminuiu em situações de baixa demanda.</a:t>
            </a:r>
            <a:endParaRPr lang="pt-BR" dirty="0">
              <a:solidFill>
                <a:schemeClr val="tx1"/>
              </a:solidFill>
              <a:latin typeface="Arial"/>
            </a:endParaRP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6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ubtítulo 2"/>
          <p:cNvSpPr txBox="1">
            <a:spLocks/>
          </p:cNvSpPr>
          <p:nvPr/>
        </p:nvSpPr>
        <p:spPr>
          <a:xfrm>
            <a:off x="16031047" y="10824340"/>
            <a:ext cx="15576604" cy="24332124"/>
          </a:xfrm>
          <a:prstGeom prst="rect">
            <a:avLst/>
          </a:prstGeom>
          <a:noFill/>
          <a:ln>
            <a:noFill/>
          </a:ln>
        </p:spPr>
        <p:txBody>
          <a:bodyPr vert="horz" lIns="432054" tIns="216027" rIns="432054" bIns="216027" rtlCol="0" anchor="t">
            <a:noAutofit/>
          </a:bodyPr>
          <a:lstStyle/>
          <a:p>
            <a:pPr algn="just"/>
            <a:r>
              <a:rPr lang="pt-BR" sz="6600" b="1" dirty="0">
                <a:latin typeface="Arial"/>
                <a:cs typeface="Arial"/>
              </a:rPr>
              <a:t>GRÁFICOS FUZZY </a:t>
            </a:r>
          </a:p>
          <a:p>
            <a:pPr algn="just">
              <a:spcBef>
                <a:spcPts val="0"/>
              </a:spcBef>
            </a:pPr>
            <a:endParaRPr lang="pt-B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t-BR" sz="4400" b="1" dirty="0">
                <a:latin typeface="Arial"/>
                <a:cs typeface="Arial"/>
              </a:rPr>
              <a:t>Figura 1 – Exemplo figura</a:t>
            </a:r>
            <a:endParaRPr lang="pt-BR" sz="4400" b="1" dirty="0">
              <a:latin typeface="Arial"/>
              <a:ea typeface="Calibri"/>
              <a:cs typeface="Arial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t-BR" sz="6600" b="1" dirty="0">
                <a:latin typeface="Arial"/>
                <a:cs typeface="Arial"/>
              </a:rPr>
              <a:t> </a:t>
            </a: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endParaRPr lang="pt-BR" sz="6600" b="1" dirty="0">
              <a:latin typeface="Arial"/>
              <a:cs typeface="Arial"/>
            </a:endParaRPr>
          </a:p>
          <a:p>
            <a:pPr algn="just"/>
            <a:r>
              <a:rPr lang="pt-BR" sz="6600" b="1" dirty="0">
                <a:latin typeface="Arial"/>
                <a:cs typeface="Arial"/>
              </a:rPr>
              <a:t>CONCLUSÃO</a:t>
            </a:r>
            <a:endParaRPr lang="pt-BR" dirty="0">
              <a:ea typeface="Calibri"/>
              <a:cs typeface="Calibri"/>
            </a:endParaRPr>
          </a:p>
          <a:p>
            <a:pPr algn="just">
              <a:spcBef>
                <a:spcPts val="0"/>
              </a:spcBef>
            </a:pPr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    A aplicação mostrou que o controlador Fuzzy adapta o tempo verde às        condições ambientais: tempos maiores em horários de pico e chuva, menores com fluxo/pedestres baixos. As impressões das regras e seus graus confirmam decisões graduais e interpretáveis. Nos testes, a lógica Fuzzy comportou-se de forma consistente e eficaz para ajustar dinamicamente o semáforo.</a:t>
            </a: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457200"/>
            <a:ext cx="324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7" name="Subtítulo 2"/>
          <p:cNvSpPr txBox="1">
            <a:spLocks/>
          </p:cNvSpPr>
          <p:nvPr/>
        </p:nvSpPr>
        <p:spPr>
          <a:xfrm>
            <a:off x="635911" y="35643758"/>
            <a:ext cx="15422878" cy="5963722"/>
          </a:xfrm>
          <a:prstGeom prst="rect">
            <a:avLst/>
          </a:prstGeom>
          <a:ln>
            <a:noFill/>
          </a:ln>
        </p:spPr>
        <p:txBody>
          <a:bodyPr vert="horz" lIns="432054" tIns="216027" rIns="432054" bIns="216027" rtlCol="0" anchor="t">
            <a:noAutofit/>
          </a:bodyPr>
          <a:lstStyle>
            <a:lvl1pPr marL="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5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16027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32054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648081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864108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80135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6162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12189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28216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</a:rPr>
              <a:t>REFERÊNCIAS BIBLIOGRÁFICAS</a:t>
            </a:r>
          </a:p>
          <a:p>
            <a:pPr algn="just">
              <a:spcBef>
                <a:spcPts val="0"/>
              </a:spcBef>
            </a:pPr>
            <a:endParaRPr lang="pt-BR" sz="28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</a:rPr>
              <a:t>1. </a:t>
            </a:r>
            <a:r>
              <a:rPr lang="pt-BR" sz="3200" b="1" dirty="0">
                <a:solidFill>
                  <a:schemeClr val="tx1"/>
                </a:solidFill>
                <a:hlinkClick r:id="rId2"/>
              </a:rPr>
              <a:t>https://repositorio.utfpr.edu.br/jspui/bitstream/1/30773/1/controleinteligentefuzzysemaforo.pdf</a:t>
            </a:r>
            <a:endParaRPr lang="pt-BR" sz="3200" dirty="0">
              <a:solidFill>
                <a:schemeClr val="tx1"/>
              </a:solidFill>
              <a:ea typeface="Calibri"/>
              <a:cs typeface="Calibri"/>
            </a:endParaRPr>
          </a:p>
          <a:p>
            <a:pPr algn="just">
              <a:spcBef>
                <a:spcPts val="0"/>
              </a:spcBef>
            </a:pPr>
            <a:endParaRPr lang="pt-BR" sz="32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</a:rPr>
              <a:t>2. </a:t>
            </a:r>
            <a:r>
              <a:rPr lang="pt-BR" sz="3200" b="1" dirty="0">
                <a:solidFill>
                  <a:schemeClr val="tx1"/>
                </a:solidFill>
                <a:hlinkClick r:id="rId3"/>
              </a:rPr>
              <a:t>https://repositorio.ufsc.br/xmlui/bitstream/handle/123456789/82790/190526.pdf?sequence=1&amp;isAllowed=y</a:t>
            </a:r>
            <a:endParaRPr lang="pt-BR" sz="32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endParaRPr lang="pt-BR" sz="3200" b="1" dirty="0">
              <a:solidFill>
                <a:schemeClr val="tx1"/>
              </a:solidFill>
              <a:ea typeface="Calibri"/>
              <a:cs typeface="Calibri"/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  <a:ea typeface="Calibri"/>
                <a:cs typeface="Calibri"/>
              </a:rPr>
              <a:t>3. </a:t>
            </a:r>
            <a:r>
              <a:rPr lang="pt-BR" sz="3200" b="1" dirty="0">
                <a:solidFill>
                  <a:schemeClr val="tx1"/>
                </a:solidFill>
                <a:ea typeface="Calibri"/>
                <a:cs typeface="Calibri"/>
                <a:hlinkClick r:id="rId4"/>
              </a:rPr>
              <a:t>https://www.sba.org.br/open_journal_systems/index.php/sbai/article/view/2709/2249</a:t>
            </a:r>
            <a:endParaRPr lang="pt-BR" sz="3200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pic>
        <p:nvPicPr>
          <p:cNvPr id="7" name="Imagem 6" descr="Diagrama&#10;&#10;O conteúdo gerado por IA pode estar incorreto.">
            <a:extLst>
              <a:ext uri="{FF2B5EF4-FFF2-40B4-BE49-F238E27FC236}">
                <a16:creationId xmlns:a16="http://schemas.microsoft.com/office/drawing/2014/main" id="{DE0425B4-4BBE-4119-F4E3-54908A6972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91884" y="692779"/>
            <a:ext cx="7724775" cy="35530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6012876-1C84-8DE5-9B13-5905E424B1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034" y="1299271"/>
            <a:ext cx="10612836" cy="2368923"/>
          </a:xfrm>
          <a:prstGeom prst="rect">
            <a:avLst/>
          </a:prstGeom>
        </p:spPr>
      </p:pic>
      <p:pic>
        <p:nvPicPr>
          <p:cNvPr id="6" name="Imagem 5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E224DFC3-68FC-0537-74E7-6CE8DE5D9D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71277" y="13349049"/>
            <a:ext cx="13000666" cy="10412687"/>
          </a:xfrm>
          <a:prstGeom prst="rect">
            <a:avLst/>
          </a:prstGeom>
        </p:spPr>
      </p:pic>
      <p:pic>
        <p:nvPicPr>
          <p:cNvPr id="12" name="Imagem 11" descr="Gráfico&#10;&#10;O conteúdo gerado por IA pode estar incorreto.">
            <a:extLst>
              <a:ext uri="{FF2B5EF4-FFF2-40B4-BE49-F238E27FC236}">
                <a16:creationId xmlns:a16="http://schemas.microsoft.com/office/drawing/2014/main" id="{2B3EEDB9-A71B-F054-4EDB-2A0DAFD8C4C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666515" y="24271083"/>
            <a:ext cx="13070534" cy="1005063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AEF1108-58D0-4E6F-AD2D-C412DF80ACF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238024" y="39380699"/>
            <a:ext cx="2514951" cy="33723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998</TotalTime>
  <Words>619</Words>
  <Application>Microsoft Office PowerPoint</Application>
  <PresentationFormat>Personalizar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Tema do Office</vt:lpstr>
      <vt:lpstr>Controle de semáforos com lógica Fuzzy  Alunos: André Vinicius Neves dos Santos, Álex Lima dos Santos, Gabriel Santos Souza, Levi Henrique Bispo Dos Santos, Rodrigo Carvalho Dias ; Orientador: Adailton Cerqueira.  Universidade Salvador – Salvador – BA – Brasil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on the Beach 2011</dc:title>
  <dc:creator>Tristao</dc:creator>
  <cp:lastModifiedBy>Gabriel Souza</cp:lastModifiedBy>
  <cp:revision>208</cp:revision>
  <dcterms:created xsi:type="dcterms:W3CDTF">2011-04-07T11:05:01Z</dcterms:created>
  <dcterms:modified xsi:type="dcterms:W3CDTF">2025-11-20T09:31:11Z</dcterms:modified>
</cp:coreProperties>
</file>